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8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76"/>
  </p:normalViewPr>
  <p:slideViewPr>
    <p:cSldViewPr snapToGrid="0" snapToObjects="1">
      <p:cViewPr>
        <p:scale>
          <a:sx n="100" d="100"/>
          <a:sy n="100" d="100"/>
        </p:scale>
        <p:origin x="904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5E412F-ACC3-B043-AFED-9AC3F97B841F}" type="datetimeFigureOut">
              <a:rPr lang="en-CN" smtClean="0"/>
              <a:t>2026/6/5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BAB2AA-B859-714D-BCFE-FC94B8D4D01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1452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AB2AA-B859-714D-BCFE-FC94B8D4D018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69458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136" y="2318258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dirty="0">
                <a:solidFill>
                  <a:srgbClr val="E8EAF0"/>
                </a:solidFill>
              </a:rPr>
              <a:t>Music Market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136" y="316738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dirty="0">
                <a:solidFill>
                  <a:srgbClr val="A78BFA"/>
                </a:solidFill>
              </a:rPr>
              <a:t>YouTube Engagement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136" y="3650742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94A3B8"/>
                </a:solidFill>
              </a:rPr>
              <a:t>Initial Findings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536" y="4111244"/>
            <a:ext cx="4873752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736" y="4505960"/>
            <a:ext cx="8531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>
                <a:solidFill>
                  <a:srgbClr val="94A3B8"/>
                </a:solidFill>
              </a:rPr>
              <a:t>Combining iTunes metadata with YouTube engagement metrics to analyze music performance across platforms.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8686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137160"/>
            <a:ext cx="117317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EAF0"/>
                </a:solidFill>
              </a:rPr>
              <a:t>Data Source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25912" cy="1467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>
                <a:solidFill>
                  <a:srgbClr val="22D3EE"/>
                </a:solidFill>
              </a:rPr>
              <a:t>•  </a:t>
            </a:r>
            <a:r>
              <a:rPr sz="2200" dirty="0">
                <a:solidFill>
                  <a:srgbClr val="E8EAF0"/>
                </a:solidFill>
              </a:rPr>
              <a:t>iTunes — metadata baseline (track, artist, genre, duration)</a:t>
            </a:r>
          </a:p>
          <a:p>
            <a:pPr>
              <a:spcBef>
                <a:spcPts val="1400"/>
              </a:spcBef>
            </a:pPr>
            <a:r>
              <a:rPr sz="2200" b="1" dirty="0">
                <a:solidFill>
                  <a:srgbClr val="22D3EE"/>
                </a:solidFill>
              </a:rPr>
              <a:t>•  </a:t>
            </a:r>
            <a:r>
              <a:rPr sz="2200" dirty="0">
                <a:solidFill>
                  <a:srgbClr val="E8EAF0"/>
                </a:solidFill>
              </a:rPr>
              <a:t>Spotify — track metadata; popularity field not in Search response</a:t>
            </a:r>
          </a:p>
          <a:p>
            <a:pPr>
              <a:spcBef>
                <a:spcPts val="1400"/>
              </a:spcBef>
            </a:pPr>
            <a:r>
              <a:rPr sz="2200" b="1" dirty="0">
                <a:solidFill>
                  <a:srgbClr val="22D3EE"/>
                </a:solidFill>
              </a:rPr>
              <a:t>•  </a:t>
            </a:r>
            <a:r>
              <a:rPr sz="2200" dirty="0">
                <a:solidFill>
                  <a:srgbClr val="E8EAF0"/>
                </a:solidFill>
              </a:rPr>
              <a:t>YouTube — views, likes, and comment</a:t>
            </a:r>
            <a:r>
              <a:rPr lang="en-CN" sz="2200" dirty="0">
                <a:solidFill>
                  <a:srgbClr val="E8EAF0"/>
                </a:solidFill>
              </a:rPr>
              <a:t>s</a:t>
            </a:r>
            <a:endParaRPr sz="2200" dirty="0">
              <a:solidFill>
                <a:srgbClr val="E8EAF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All data fetched via public APIs with no scraping.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8686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137160"/>
            <a:ext cx="117317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solidFill>
                  <a:srgbClr val="E8EAF0"/>
                </a:solidFill>
              </a:rPr>
              <a:t>YouTube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25912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>
                <a:solidFill>
                  <a:srgbClr val="22D3EE"/>
                </a:solidFill>
              </a:rPr>
              <a:t>•  </a:t>
            </a:r>
            <a:r>
              <a:rPr sz="2200" dirty="0">
                <a:solidFill>
                  <a:srgbClr val="E8EAF0"/>
                </a:solidFill>
              </a:rPr>
              <a:t>Views — exposure</a:t>
            </a:r>
            <a:r>
              <a:rPr lang="zh-CN" altLang="en-US" sz="2200" dirty="0">
                <a:solidFill>
                  <a:srgbClr val="E8EAF0"/>
                </a:solidFill>
              </a:rPr>
              <a:t> </a:t>
            </a:r>
            <a:r>
              <a:rPr lang="en-US" altLang="zh-CN" sz="2200" dirty="0">
                <a:solidFill>
                  <a:srgbClr val="E8EAF0"/>
                </a:solidFill>
              </a:rPr>
              <a:t>indicator</a:t>
            </a:r>
            <a:endParaRPr sz="2200" dirty="0">
              <a:solidFill>
                <a:srgbClr val="E8EAF0"/>
              </a:solidFill>
            </a:endParaRPr>
          </a:p>
          <a:p>
            <a:pPr>
              <a:spcBef>
                <a:spcPts val="1400"/>
              </a:spcBef>
            </a:pPr>
            <a:r>
              <a:rPr sz="2200" b="1" dirty="0">
                <a:solidFill>
                  <a:srgbClr val="22D3EE"/>
                </a:solidFill>
              </a:rPr>
              <a:t>•  </a:t>
            </a:r>
            <a:r>
              <a:rPr sz="2200" dirty="0">
                <a:solidFill>
                  <a:srgbClr val="E8EAF0"/>
                </a:solidFill>
              </a:rPr>
              <a:t>Likes —</a:t>
            </a:r>
            <a:r>
              <a:rPr lang="zh-CN" altLang="en-US" sz="2200" dirty="0">
                <a:solidFill>
                  <a:srgbClr val="E8EAF0"/>
                </a:solidFill>
              </a:rPr>
              <a:t> </a:t>
            </a:r>
            <a:r>
              <a:rPr sz="2200" dirty="0">
                <a:solidFill>
                  <a:srgbClr val="E8EAF0"/>
                </a:solidFill>
              </a:rPr>
              <a:t>audience response</a:t>
            </a:r>
            <a:r>
              <a:rPr lang="zh-CN" altLang="en-US" sz="2200" dirty="0">
                <a:solidFill>
                  <a:srgbClr val="E8EAF0"/>
                </a:solidFill>
              </a:rPr>
              <a:t> </a:t>
            </a:r>
            <a:r>
              <a:rPr lang="en-US" altLang="zh-CN" sz="2200" dirty="0">
                <a:solidFill>
                  <a:srgbClr val="E8EAF0"/>
                </a:solidFill>
              </a:rPr>
              <a:t>indicator</a:t>
            </a:r>
            <a:endParaRPr sz="2200" dirty="0">
              <a:solidFill>
                <a:srgbClr val="E8EAF0"/>
              </a:solidFill>
            </a:endParaRPr>
          </a:p>
          <a:p>
            <a:pPr>
              <a:spcBef>
                <a:spcPts val="1400"/>
              </a:spcBef>
            </a:pPr>
            <a:r>
              <a:rPr sz="2200" b="1" dirty="0">
                <a:solidFill>
                  <a:srgbClr val="22D3EE"/>
                </a:solidFill>
              </a:rPr>
              <a:t>•  </a:t>
            </a:r>
            <a:r>
              <a:rPr sz="2200" dirty="0">
                <a:solidFill>
                  <a:srgbClr val="E8EAF0"/>
                </a:solidFill>
              </a:rPr>
              <a:t>Comments — </a:t>
            </a:r>
            <a:r>
              <a:rPr lang="en-US" altLang="zh-CN" sz="2200" dirty="0">
                <a:solidFill>
                  <a:srgbClr val="E8EAF0"/>
                </a:solidFill>
              </a:rPr>
              <a:t>additional</a:t>
            </a:r>
            <a:r>
              <a:rPr lang="zh-CN" altLang="en-US" sz="2200" dirty="0">
                <a:solidFill>
                  <a:srgbClr val="E8EAF0"/>
                </a:solidFill>
              </a:rPr>
              <a:t> </a:t>
            </a:r>
            <a:r>
              <a:rPr lang="en-US" altLang="zh-CN" sz="2200" dirty="0">
                <a:solidFill>
                  <a:srgbClr val="E8EAF0"/>
                </a:solidFill>
              </a:rPr>
              <a:t>engagement</a:t>
            </a:r>
            <a:r>
              <a:rPr lang="zh-CN" altLang="en-US" sz="2200" dirty="0">
                <a:solidFill>
                  <a:srgbClr val="E8EAF0"/>
                </a:solidFill>
              </a:rPr>
              <a:t> </a:t>
            </a:r>
            <a:r>
              <a:rPr lang="en-US" altLang="zh-CN" sz="2200" dirty="0">
                <a:solidFill>
                  <a:srgbClr val="E8EAF0"/>
                </a:solidFill>
              </a:rPr>
              <a:t>indicator</a:t>
            </a:r>
            <a:endParaRPr sz="2200" dirty="0">
              <a:solidFill>
                <a:srgbClr val="E8EAF0"/>
              </a:solidFill>
            </a:endParaRPr>
          </a:p>
          <a:p>
            <a:pPr>
              <a:spcBef>
                <a:spcPts val="1400"/>
              </a:spcBef>
            </a:pPr>
            <a:r>
              <a:rPr sz="2200" b="1" dirty="0">
                <a:solidFill>
                  <a:srgbClr val="22D3EE"/>
                </a:solidFill>
              </a:rPr>
              <a:t>•  </a:t>
            </a:r>
            <a:r>
              <a:rPr sz="2200" dirty="0">
                <a:solidFill>
                  <a:srgbClr val="E8EAF0"/>
                </a:solidFill>
              </a:rPr>
              <a:t>Engagement Rate — (likes + comments) / 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Sample: 10 lofi study music videos via search.list + videos.list.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8686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137160"/>
            <a:ext cx="117317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EAF0"/>
                </a:solidFill>
              </a:rPr>
              <a:t>Views and Likes by Video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960120"/>
            <a:ext cx="5820156" cy="3471291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youtube_view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5637276" cy="328841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185916" y="960120"/>
            <a:ext cx="5820156" cy="3471291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youtube_likes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356" y="1051560"/>
            <a:ext cx="5637276" cy="328841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56032" y="4764866"/>
            <a:ext cx="11731752" cy="61325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700" b="1" dirty="0">
                <a:solidFill>
                  <a:srgbClr val="E8EAF0"/>
                </a:solidFill>
              </a:rPr>
              <a:t>Takeaway:  Views and likes are generally aligned, with one video dominating both.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8686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137160"/>
            <a:ext cx="117317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EAF0"/>
                </a:solidFill>
              </a:rPr>
              <a:t>Engagement Rate by Video</a:t>
            </a:r>
          </a:p>
        </p:txBody>
      </p:sp>
      <p:sp>
        <p:nvSpPr>
          <p:cNvPr id="5" name="Rectangle 4"/>
          <p:cNvSpPr/>
          <p:nvPr/>
        </p:nvSpPr>
        <p:spPr>
          <a:xfrm>
            <a:off x="1888236" y="960120"/>
            <a:ext cx="8412480" cy="4983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youtube_engagement_rat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76" y="1051560"/>
            <a:ext cx="8229600" cy="4800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6126480"/>
            <a:ext cx="11274552" cy="56692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700" b="1" dirty="0">
                <a:solidFill>
                  <a:srgbClr val="E8EAF0"/>
                </a:solidFill>
              </a:rPr>
              <a:t>Takeaway:  Engagement rate shows a different ranking after normalizing by view volume.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8686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137160"/>
            <a:ext cx="117317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EAF0"/>
                </a:solidFill>
              </a:rPr>
              <a:t>Summary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52257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22D3EE"/>
                </a:solidFill>
              </a:rPr>
              <a:t>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22579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2D3EE"/>
                </a:solidFill>
              </a:rPr>
              <a:t>•  </a:t>
            </a:r>
            <a:r>
              <a:rPr sz="1700">
                <a:solidFill>
                  <a:srgbClr val="E8EAF0"/>
                </a:solidFill>
              </a:rPr>
              <a:t>YouTube adds public engagement signals to the iTunes baseline.</a:t>
            </a:r>
          </a:p>
          <a:p>
            <a:pPr>
              <a:spcBef>
                <a:spcPts val="1400"/>
              </a:spcBef>
            </a:pPr>
            <a:r>
              <a:rPr sz="1700" b="1">
                <a:solidFill>
                  <a:srgbClr val="22D3EE"/>
                </a:solidFill>
              </a:rPr>
              <a:t>•  </a:t>
            </a:r>
            <a:r>
              <a:rPr sz="1700">
                <a:solidFill>
                  <a:srgbClr val="E8EAF0"/>
                </a:solidFill>
              </a:rPr>
              <a:t>Views and likes are generally aligned in the current sample; one video dominates both.</a:t>
            </a:r>
          </a:p>
          <a:p>
            <a:pPr>
              <a:spcBef>
                <a:spcPts val="1400"/>
              </a:spcBef>
            </a:pPr>
            <a:r>
              <a:rPr sz="1700" b="1">
                <a:solidFill>
                  <a:srgbClr val="22D3EE"/>
                </a:solidFill>
              </a:rPr>
              <a:t>•  </a:t>
            </a:r>
            <a:r>
              <a:rPr sz="1700">
                <a:solidFill>
                  <a:srgbClr val="E8EAF0"/>
                </a:solidFill>
              </a:rPr>
              <a:t>Engagement rate reveals a different ranking after normalizing.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76188" y="1005840"/>
            <a:ext cx="36576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23076" y="1051560"/>
            <a:ext cx="52257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A78BFA"/>
                </a:solidFill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1508760"/>
            <a:ext cx="5225796" cy="105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700" b="1" dirty="0">
                <a:solidFill>
                  <a:srgbClr val="22D3EE"/>
                </a:solidFill>
              </a:rPr>
              <a:t>•  </a:t>
            </a:r>
            <a:r>
              <a:rPr sz="1700" dirty="0">
                <a:solidFill>
                  <a:srgbClr val="E8EAF0"/>
                </a:solidFill>
              </a:rPr>
              <a:t>Expand sample beyond the </a:t>
            </a:r>
            <a:r>
              <a:rPr sz="1700" dirty="0" err="1">
                <a:solidFill>
                  <a:srgbClr val="E8EAF0"/>
                </a:solidFill>
              </a:rPr>
              <a:t>lofi</a:t>
            </a:r>
            <a:r>
              <a:rPr sz="1700" dirty="0">
                <a:solidFill>
                  <a:srgbClr val="E8EAF0"/>
                </a:solidFill>
              </a:rPr>
              <a:t> genre.</a:t>
            </a:r>
          </a:p>
          <a:p>
            <a:pPr>
              <a:spcBef>
                <a:spcPts val="1400"/>
              </a:spcBef>
            </a:pPr>
            <a:r>
              <a:rPr sz="1700" b="1" dirty="0">
                <a:solidFill>
                  <a:srgbClr val="22D3EE"/>
                </a:solidFill>
              </a:rPr>
              <a:t>•  </a:t>
            </a:r>
            <a:r>
              <a:rPr sz="1700" dirty="0">
                <a:solidFill>
                  <a:srgbClr val="E8EAF0"/>
                </a:solidFill>
              </a:rPr>
              <a:t>Link YouTube engagement back to iTunes track metadata.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219</Words>
  <Application>Microsoft Macintosh PowerPoint</Application>
  <PresentationFormat>Custom</PresentationFormat>
  <Paragraphs>28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Angela Gu</cp:lastModifiedBy>
  <cp:revision>2</cp:revision>
  <dcterms:created xsi:type="dcterms:W3CDTF">2013-01-27T09:14:16Z</dcterms:created>
  <dcterms:modified xsi:type="dcterms:W3CDTF">2026-06-05T15:49:10Z</dcterms:modified>
  <cp:category/>
</cp:coreProperties>
</file>